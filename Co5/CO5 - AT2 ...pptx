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</p:sldIdLst>
  <p:sldSz cy="32918400" cx="164592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</p:spPr>
        <p:txBody>
          <a:bodyPr anchor="b"/>
          <a:lstStyle>
            <a:lvl1pPr algn="ctr"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</p:spPr>
        <p:txBody>
          <a:bodyPr/>
          <a:lstStyle>
            <a:lvl1pPr marL="0" indent="0" algn="ctr">
              <a:buNone/>
              <a:defRPr sz="4323"/>
            </a:lvl1pPr>
            <a:lvl2pPr marL="823285" indent="0" algn="ctr">
              <a:buNone/>
              <a:defRPr sz="3602"/>
            </a:lvl2pPr>
            <a:lvl3pPr marL="1646571" indent="0" algn="ctr">
              <a:buNone/>
              <a:defRPr sz="3241"/>
            </a:lvl3pPr>
            <a:lvl4pPr marL="2469856" indent="0" algn="ctr">
              <a:buNone/>
              <a:defRPr sz="2880"/>
            </a:lvl4pPr>
            <a:lvl5pPr marL="3293142" indent="0" algn="ctr">
              <a:buNone/>
              <a:defRPr sz="2880"/>
            </a:lvl5pPr>
            <a:lvl6pPr marL="4116427" indent="0" algn="ctr">
              <a:buNone/>
              <a:defRPr sz="2880"/>
            </a:lvl6pPr>
            <a:lvl7pPr marL="4939713" indent="0" algn="ctr">
              <a:buNone/>
              <a:defRPr sz="2880"/>
            </a:lvl7pPr>
            <a:lvl8pPr marL="5762993" indent="0" algn="ctr">
              <a:buNone/>
              <a:defRPr sz="2880"/>
            </a:lvl8pPr>
            <a:lvl9pPr marL="6586284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89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</p:spPr>
        <p:txBody>
          <a:bodyPr anchor="b"/>
          <a:lstStyle>
            <a:lvl1pPr>
              <a:defRPr sz="108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</p:spPr>
        <p:txBody>
          <a:bodyPr/>
          <a:lstStyle>
            <a:lvl1pPr marL="0" indent="0">
              <a:buNone/>
              <a:defRPr sz="4323">
                <a:solidFill>
                  <a:schemeClr val="tx1"/>
                </a:solidFill>
              </a:defRPr>
            </a:lvl1pPr>
            <a:lvl2pPr marL="823285" indent="0">
              <a:buNone/>
              <a:defRPr sz="3602">
                <a:solidFill>
                  <a:schemeClr val="tx1">
                    <a:tint val="75000"/>
                  </a:schemeClr>
                </a:solidFill>
              </a:defRPr>
            </a:lvl2pPr>
            <a:lvl3pPr marL="1646571" indent="0">
              <a:buNone/>
              <a:defRPr sz="3241">
                <a:solidFill>
                  <a:schemeClr val="tx1">
                    <a:tint val="75000"/>
                  </a:schemeClr>
                </a:solidFill>
              </a:defRPr>
            </a:lvl3pPr>
            <a:lvl4pPr marL="2469856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3142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6427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971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2993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6284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664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8763025"/>
            <a:ext cx="6995160" cy="20886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99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12024360"/>
            <a:ext cx="6963012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8069588"/>
            <a:ext cx="6997304" cy="3954780"/>
          </a:xfrm>
        </p:spPr>
        <p:txBody>
          <a:bodyPr anchor="b"/>
          <a:lstStyle>
            <a:lvl1pPr marL="0" indent="0">
              <a:buNone/>
              <a:defRPr sz="4323" b="1"/>
            </a:lvl1pPr>
            <a:lvl2pPr marL="823285" indent="0">
              <a:buNone/>
              <a:defRPr sz="3602" b="1"/>
            </a:lvl2pPr>
            <a:lvl3pPr marL="1646571" indent="0">
              <a:buNone/>
              <a:defRPr sz="3241" b="1"/>
            </a:lvl3pPr>
            <a:lvl4pPr marL="2469856" indent="0">
              <a:buNone/>
              <a:defRPr sz="2880" b="1"/>
            </a:lvl4pPr>
            <a:lvl5pPr marL="3293142" indent="0">
              <a:buNone/>
              <a:defRPr sz="2880" b="1"/>
            </a:lvl5pPr>
            <a:lvl6pPr marL="4116427" indent="0">
              <a:buNone/>
              <a:defRPr sz="2880" b="1"/>
            </a:lvl6pPr>
            <a:lvl7pPr marL="4939713" indent="0">
              <a:buNone/>
              <a:defRPr sz="2880" b="1"/>
            </a:lvl7pPr>
            <a:lvl8pPr marL="5762993" indent="0">
              <a:buNone/>
              <a:defRPr sz="2880" b="1"/>
            </a:lvl8pPr>
            <a:lvl9pPr marL="6586284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12024360"/>
            <a:ext cx="6997304" cy="176860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20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78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7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4739649"/>
            <a:ext cx="8332470" cy="23393398"/>
          </a:xfrm>
        </p:spPr>
        <p:txBody>
          <a:bodyPr/>
          <a:lstStyle>
            <a:lvl1pPr>
              <a:defRPr sz="5761"/>
            </a:lvl1pPr>
            <a:lvl2pPr>
              <a:defRPr sz="5039"/>
            </a:lvl2pPr>
            <a:lvl3pPr>
              <a:defRPr sz="4323"/>
            </a:lvl3pPr>
            <a:lvl4pPr>
              <a:defRPr sz="3602"/>
            </a:lvl4pPr>
            <a:lvl5pPr>
              <a:defRPr sz="3602"/>
            </a:lvl5pPr>
            <a:lvl6pPr>
              <a:defRPr sz="3602"/>
            </a:lvl6pPr>
            <a:lvl7pPr>
              <a:defRPr sz="3602"/>
            </a:lvl7pPr>
            <a:lvl8pPr>
              <a:defRPr sz="3602"/>
            </a:lvl8pPr>
            <a:lvl9pPr>
              <a:defRPr sz="36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82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</p:spPr>
        <p:txBody>
          <a:bodyPr anchor="b"/>
          <a:lstStyle>
            <a:lvl1pPr>
              <a:defRPr sz="57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4739649"/>
            <a:ext cx="8332470" cy="23393398"/>
          </a:xfrm>
        </p:spPr>
        <p:txBody>
          <a:bodyPr anchor="t"/>
          <a:lstStyle>
            <a:lvl1pPr marL="0" indent="0">
              <a:buNone/>
              <a:defRPr sz="5761"/>
            </a:lvl1pPr>
            <a:lvl2pPr marL="823285" indent="0">
              <a:buNone/>
              <a:defRPr sz="5039"/>
            </a:lvl2pPr>
            <a:lvl3pPr marL="1646571" indent="0">
              <a:buNone/>
              <a:defRPr sz="4323"/>
            </a:lvl3pPr>
            <a:lvl4pPr marL="2469856" indent="0">
              <a:buNone/>
              <a:defRPr sz="3602"/>
            </a:lvl4pPr>
            <a:lvl5pPr marL="3293142" indent="0">
              <a:buNone/>
              <a:defRPr sz="3602"/>
            </a:lvl5pPr>
            <a:lvl6pPr marL="4116427" indent="0">
              <a:buNone/>
              <a:defRPr sz="3602"/>
            </a:lvl6pPr>
            <a:lvl7pPr marL="4939713" indent="0">
              <a:buNone/>
              <a:defRPr sz="3602"/>
            </a:lvl7pPr>
            <a:lvl8pPr marL="5762993" indent="0">
              <a:buNone/>
              <a:defRPr sz="3602"/>
            </a:lvl8pPr>
            <a:lvl9pPr marL="6586284" indent="0">
              <a:buNone/>
              <a:defRPr sz="36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9875517"/>
            <a:ext cx="5308520" cy="18295624"/>
          </a:xfrm>
        </p:spPr>
        <p:txBody>
          <a:bodyPr/>
          <a:lstStyle>
            <a:lvl1pPr marL="0" indent="0">
              <a:buNone/>
              <a:defRPr sz="2880"/>
            </a:lvl1pPr>
            <a:lvl2pPr marL="823285" indent="0">
              <a:buNone/>
              <a:defRPr sz="2520"/>
            </a:lvl2pPr>
            <a:lvl3pPr marL="1646571" indent="0">
              <a:buNone/>
              <a:defRPr sz="2159"/>
            </a:lvl3pPr>
            <a:lvl4pPr marL="2469856" indent="0">
              <a:buNone/>
              <a:defRPr sz="1798"/>
            </a:lvl4pPr>
            <a:lvl5pPr marL="3293142" indent="0">
              <a:buNone/>
              <a:defRPr sz="1798"/>
            </a:lvl5pPr>
            <a:lvl6pPr marL="4116427" indent="0">
              <a:buNone/>
              <a:defRPr sz="1798"/>
            </a:lvl6pPr>
            <a:lvl7pPr marL="4939713" indent="0">
              <a:buNone/>
              <a:defRPr sz="1798"/>
            </a:lvl7pPr>
            <a:lvl8pPr marL="5762993" indent="0">
              <a:buNone/>
              <a:defRPr sz="1798"/>
            </a:lvl8pPr>
            <a:lvl9pPr marL="6586284" indent="0">
              <a:buNone/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9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1752621"/>
            <a:ext cx="3549015" cy="278968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6" y="1752621"/>
            <a:ext cx="10441305" cy="278968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2DA87-17A3-43A0-B86E-2FCFB6EFBC32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33070-D223-4E7B-BBE1-DD4C7F7A1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7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6571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645" indent="-411645" algn="l" defTabSz="1646571" rtl="0" eaLnBrk="1" latinLnBrk="0" hangingPunct="1">
        <a:lnSpc>
          <a:spcPct val="90000"/>
        </a:lnSpc>
        <a:spcBef>
          <a:spcPts val="1798"/>
        </a:spcBef>
        <a:buFont typeface="Arial" panose="020B0604020202020204" pitchFamily="34" charset="0"/>
        <a:buChar char="•"/>
        <a:defRPr sz="5039" kern="1200">
          <a:solidFill>
            <a:schemeClr val="tx1"/>
          </a:solidFill>
          <a:latin typeface="+mn-lt"/>
          <a:ea typeface="+mn-ea"/>
          <a:cs typeface="+mn-cs"/>
        </a:defRPr>
      </a:lvl1pPr>
      <a:lvl2pPr marL="1234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4323" kern="1200">
          <a:solidFill>
            <a:schemeClr val="tx1"/>
          </a:solidFill>
          <a:latin typeface="+mn-lt"/>
          <a:ea typeface="+mn-ea"/>
          <a:cs typeface="+mn-cs"/>
        </a:defRPr>
      </a:lvl2pPr>
      <a:lvl3pPr marL="205821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602" kern="1200">
          <a:solidFill>
            <a:schemeClr val="tx1"/>
          </a:solidFill>
          <a:latin typeface="+mn-lt"/>
          <a:ea typeface="+mn-ea"/>
          <a:cs typeface="+mn-cs"/>
        </a:defRPr>
      </a:lvl3pPr>
      <a:lvl4pPr marL="2881502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70478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528073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535135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6174639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997930" indent="-411645" algn="l" defTabSz="1646571" rtl="0" eaLnBrk="1" latinLnBrk="0" hangingPunct="1">
        <a:lnSpc>
          <a:spcPct val="90000"/>
        </a:lnSpc>
        <a:spcBef>
          <a:spcPts val="899"/>
        </a:spcBef>
        <a:buFont typeface="Arial" panose="020B0604020202020204" pitchFamily="34" charset="0"/>
        <a:buChar char="•"/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1pPr>
      <a:lvl2pPr marL="823285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2pPr>
      <a:lvl3pPr marL="1646571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3pPr>
      <a:lvl4pPr marL="2469856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4pPr>
      <a:lvl5pPr marL="3293142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5pPr>
      <a:lvl6pPr marL="4116427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6pPr>
      <a:lvl7pPr marL="493971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7pPr>
      <a:lvl8pPr marL="5762993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8pPr>
      <a:lvl9pPr marL="6586284" algn="l" defTabSz="1646571" rtl="0" eaLnBrk="1" latinLnBrk="0" hangingPunct="1">
        <a:defRPr sz="3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-1" y="1"/>
            <a:ext cx="16459200" cy="26922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-5" y="4016522"/>
            <a:ext cx="16459200" cy="61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-2" y="10118010"/>
            <a:ext cx="16459200" cy="5824500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-2" y="15942477"/>
            <a:ext cx="16459200" cy="6237000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-2" y="22179494"/>
            <a:ext cx="16459200" cy="5378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-2" y="27557964"/>
            <a:ext cx="16459200" cy="5360400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187036" y="4044802"/>
            <a:ext cx="3261000" cy="474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en-US" sz="2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279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2" y="2698062"/>
            <a:ext cx="16459200" cy="132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8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87042" y="16251377"/>
            <a:ext cx="2708700" cy="5559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i="0" lang="en-US" sz="24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87042" y="22386831"/>
            <a:ext cx="5909100" cy="5541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ADVANTAGES &amp; CHALLENGES</a:t>
            </a:r>
            <a:endParaRPr b="1" i="0" sz="279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268951" y="27756384"/>
            <a:ext cx="3022800" cy="5541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FUTURE SCOPE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87047" y="10269290"/>
            <a:ext cx="5185200" cy="5541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OVERVIEW &amp; WORKING PRINCIPLE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38606" y="17425771"/>
            <a:ext cx="92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5980" lvl="0" marL="34304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1"/>
              <a:buFont typeface="Noto Sans Symbols"/>
              <a:buNone/>
            </a:pPr>
            <a:r>
              <a:t/>
            </a:r>
            <a:endParaRPr b="1" i="0" sz="2001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-184666"/>
            <a:ext cx="3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0" y="-18466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40080" y="423515"/>
            <a:ext cx="15179100" cy="17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AI: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the Energy and Carbon Cost of LLMs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40080" y="2880360"/>
            <a:ext cx="15179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S</a:t>
            </a:r>
            <a:r>
              <a:rPr b="1" lang="en-US" sz="2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d.Khadeer</a:t>
            </a:r>
            <a:r>
              <a:rPr b="1" i="0" lang="en-US" sz="2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(19247201</a:t>
            </a:r>
            <a:r>
              <a:rPr b="1" lang="en-US" sz="2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i="0" lang="en-US" sz="22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|  B.E – Computer Science and Engineering (AI)</a:t>
            </a:r>
            <a:endParaRPr b="1" i="0" sz="2200" u="none" cap="none" strike="noStrike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40080" y="3337560"/>
            <a:ext cx="1517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Engineering, Saveetha School of Engineering  |  Dept. of Computer Science and Engineering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40080" y="3657600"/>
            <a:ext cx="1517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CSA65 - Generative AI and Large Scale Models  |  CO5: Assessment Tool 2 - Seminar / Poster Presentation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640080" y="4892040"/>
            <a:ext cx="731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Background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640080" y="5486400"/>
            <a:ext cx="73152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Models such as GPT, Claude and Gemini are trained on thousands of GPUs/TPUs running for weeks, drawing megawatt-hours of electricity per run.</a:t>
            </a:r>
            <a:endParaRPr/>
          </a:p>
          <a:p>
            <a:pPr indent="-216000" lvl="0" marL="216000" marR="0" rtl="0" algn="l">
              <a:spcBef>
                <a:spcPts val="120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inference call also carries an energy and carbon cost; with billions of daily queries, inference can rival or exceed training emissions at data-centre scale.</a:t>
            </a:r>
            <a:endParaRPr/>
          </a:p>
          <a:p>
            <a:pPr indent="-216000" lvl="0" marL="216000" marR="0" rtl="0" algn="l">
              <a:spcBef>
                <a:spcPts val="120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AI reframes efficiency as important as accuracy, tracking FLOPs, energy use and CO2-equivalent emissions alongside benchmark scores.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8503920" y="4892040"/>
            <a:ext cx="731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503920" y="5486400"/>
            <a:ext cx="73152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data-centre electricity demand is projected to roughly double from about 415 TWh (2024) to 945 TWh by 2030, with AI as the single biggest driver.</a:t>
            </a:r>
            <a:endParaRPr/>
          </a:p>
          <a:p>
            <a:pPr indent="-216000" lvl="0" marL="216000" marR="0" rtl="0" algn="l">
              <a:spcBef>
                <a:spcPts val="120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Data-centre cooling and AI chip manufacturing also strain local water supplies and rare-earth minerals, adding costs beyond electricity alone.</a:t>
            </a:r>
            <a:endParaRPr/>
          </a:p>
          <a:p>
            <a:pPr indent="-216000" lvl="0" marL="216000" marR="0" rtl="0" algn="l">
              <a:spcBef>
                <a:spcPts val="1200"/>
              </a:spcBef>
              <a:spcAft>
                <a:spcPts val="0"/>
              </a:spcAft>
              <a:buClr>
                <a:srgbClr val="E9EFF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E9EF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providers rarely disclose exact energy or carbon figures, making it hard for researchers and organisations to compare or improve a model's footprint.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640080" y="8732520"/>
            <a:ext cx="15179100" cy="10515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27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09725" lIns="320025" spcFirstLastPara="1" rIns="320025" wrap="square" tIns="10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AI-focused data-centre electricity use could triple by 2030, and a single Gemini or ChatGPT text query already uses about 0.24-0.34 Wh of energy (IEA, 2025; Google, 2025).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640080" y="11109960"/>
            <a:ext cx="151791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Green AI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AI applies efficiency-first engineering across the full LLM lifecycle: compact architectures and careful data curation reduce training cost, quantization and distillation shrink deployed models, and smarter serving - caching, batching, right-sized hardware - cuts the energy spent on every inference call, all measured against real energy and carbon metrics rather than accuracy alone.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640080" y="12847320"/>
            <a:ext cx="1517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Green AI Lifecycle Workflow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7442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354330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601218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848106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1094994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Use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13418820" y="13487400"/>
            <a:ext cx="1965900" cy="1417200"/>
          </a:xfrm>
          <a:prstGeom prst="roundRect">
            <a:avLst>
              <a:gd fmla="val 16667" name="adj"/>
            </a:avLst>
          </a:prstGeom>
          <a:solidFill>
            <a:srgbClr val="2E4B86"/>
          </a:solidFill>
          <a:ln cap="flat" cmpd="sng" w="19050">
            <a:solidFill>
              <a:srgbClr val="1B2A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18275" lIns="73150" spcFirstLastPara="1" rIns="731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&amp;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</a:t>
            </a:r>
            <a:endParaRPr/>
          </a:p>
        </p:txBody>
      </p:sp>
      <p:sp>
        <p:nvSpPr>
          <p:cNvPr id="110" name="Google Shape;110;p1"/>
          <p:cNvSpPr/>
          <p:nvPr/>
        </p:nvSpPr>
        <p:spPr>
          <a:xfrm>
            <a:off x="3040380" y="14068044"/>
            <a:ext cx="5028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5509260" y="14068044"/>
            <a:ext cx="5028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978140" y="14068044"/>
            <a:ext cx="5028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10447020" y="14068044"/>
            <a:ext cx="5028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2915900" y="14068044"/>
            <a:ext cx="5028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A8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640080" y="15133320"/>
            <a:ext cx="15179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 u="none" cap="none" strike="noStrike">
                <a:solidFill>
                  <a:srgbClr val="1B2A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pipeline is optimized end-to-end, from model design through deployment, to shrink the energy and carbon footprint of every model call.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40080" y="16962120"/>
            <a:ext cx="694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A2A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Applications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40080" y="17556480"/>
            <a:ext cx="6949500" cy="43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&amp; Data Centres - liquid cooling, renewable-powered campuses and workload scheduling to cut PUE</a:t>
            </a:r>
            <a:endParaRPr/>
          </a:p>
          <a:p>
            <a:pPr indent="-216000" lvl="0" marL="2160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Tech (Google, Microsoft, Meta) - custom low-power AI chips and fleet-wide energy reporting</a:t>
            </a:r>
            <a:endParaRPr/>
          </a:p>
          <a:p>
            <a:pPr indent="-216000" lvl="0" marL="2160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Developers - quantized and distilled small language models for cheaper, greener inference</a:t>
            </a:r>
            <a:endParaRPr/>
          </a:p>
          <a:p>
            <a:pPr indent="-216000" lvl="0" marL="2160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SaaS - model routing that sends simple queries to smaller, low-energy models</a:t>
            </a:r>
            <a:endParaRPr/>
          </a:p>
          <a:p>
            <a:pPr indent="-216000" lvl="0" marL="2160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 &amp; Edge Computing - on-device and edge inference to cut data-centre and network load</a:t>
            </a:r>
            <a:endParaRPr/>
          </a:p>
          <a:p>
            <a:pPr indent="-216000" lvl="0" marL="216000" marR="0" rtl="0" algn="l">
              <a:spcBef>
                <a:spcPts val="10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 &amp; ESG Teams - carbon accounting and reporting tools for AI workloads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8321040" y="16443960"/>
            <a:ext cx="76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8A2A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Use Case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8183880" y="17034661"/>
            <a:ext cx="7680900" cy="493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8A2A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274300" lIns="320025" spcFirstLastPara="1" rIns="320025" wrap="square" tIns="274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A2A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x Gemini Energy Reporting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published a detailed 2025 lifecycle analysis of Gemini App text queries, using real fleet-wide measurements rather than estimates.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median Gemini text prompt was found to use about 0.24 Wh of electricity, comparable to running a microwave for roughly one second.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trend: Microsoft and Mistral AI now also publish per-query energy and carbon figures, reflecting a wider industry shift toward transparent, efficiency-first AI reporting.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640080" y="23180040"/>
            <a:ext cx="731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A3B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640080" y="23774400"/>
            <a:ext cx="7315200" cy="3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operating cost: energy-efficient models cut electricity and cooling bills for training and serving.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Smaller, distilled models can run on cheaper hardware, widening access beyond large data centres.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 and efficient serving, such as batching and caching, cut inference energy per query significantly.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Transparent energy and carbon reporting helps organisations meet sustainability and ESG commitments.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research often improves latency and cost alongside emissions, benefiting both users and providers.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8503920" y="22631400"/>
            <a:ext cx="731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5A3B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/ Limitations</a:t>
            </a:r>
            <a:endParaRPr/>
          </a:p>
        </p:txBody>
      </p:sp>
      <p:sp>
        <p:nvSpPr>
          <p:cNvPr id="123" name="Google Shape;123;p1"/>
          <p:cNvSpPr txBox="1"/>
          <p:nvPr/>
        </p:nvSpPr>
        <p:spPr>
          <a:xfrm>
            <a:off x="8503920" y="23317200"/>
            <a:ext cx="7315200" cy="3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Providers rarely disclose full lifecycle energy and carbon data, making independent comparison difficult.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AI-focused data-centre electricity demand could triple by 2030, straining grids and renewable supply plans.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Chip manufacturing and data-centre cooling consume significant water and rare-earth minerals.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Rebound effect: cheaper, more efficient inference can drive far higher overall usage and net energy demand.</a:t>
            </a:r>
            <a:endParaRPr/>
          </a:p>
          <a:p>
            <a:pPr indent="-216000" lvl="0" marL="216000" marR="0" rtl="0" algn="l"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 culture still rewards larger models, creating pressure to scale despite sustainability goals.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662940" y="28508802"/>
            <a:ext cx="73152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Wider adoption of small, task-specific models routed by need instead of one large default model.</a:t>
            </a:r>
            <a:endParaRPr/>
          </a:p>
          <a:p>
            <a:pPr indent="-216000" lvl="0" marL="2160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Standardised energy and carbon reporting, such as per-query Wh and CO2e, across all major LLM providers.</a:t>
            </a:r>
            <a:endParaRPr/>
          </a:p>
          <a:p>
            <a:pPr indent="-216000" lvl="0" marL="2160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Deeper integration of renewable-matched compute scheduling and next-generation efficient AI accelerators.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8549640" y="27879497"/>
            <a:ext cx="731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E5C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8481060" y="28451925"/>
            <a:ext cx="7315200" cy="1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the energy and carbon cost of LLMs is no longer optional: as AI adoption grows, efficiency-first design, transparent reporting and smarter deployment are essential to keep AI's benefits from outpacing its environmental cost.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662940" y="30364084"/>
            <a:ext cx="1517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5C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618376" y="30774306"/>
            <a:ext cx="15179100" cy="21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IEA (2025). Energy and AI. International Energy Agency, Paris. iea.org/reports/energy-and-ai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IEA (2026). Key Questions on Energy and AI. International Energy Agency, Paris.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Jegham, N. et al. (2025). How Hungry is AI? Benchmarking Energy, Water and Carbon Footprint of LLM Inference. arXiv:2505.09598.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Elsworth, C. et al. (2025). Measuring the Environmental Impact of AI Inference. Google Cloud Blog.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Ritchie, H. (2025). What's the Carbon Footprint of Using ChatGPT or Gemini? Sustainability by Numbers.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Wilhelm, P., Wittkopp, T., &amp; Kao, O. (2025). Advocating Energy-per-Token in LLM Inference. EuroMLSys '25, ACM.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